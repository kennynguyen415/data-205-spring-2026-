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65" r:id="rId2"/>
    <p:sldId id="263" r:id="rId3"/>
    <p:sldId id="264" r:id="rId4"/>
    <p:sldId id="256" r:id="rId5"/>
    <p:sldId id="257" r:id="rId6"/>
    <p:sldId id="266" r:id="rId7"/>
    <p:sldId id="271" r:id="rId8"/>
    <p:sldId id="267" r:id="rId9"/>
    <p:sldId id="259" r:id="rId10"/>
    <p:sldId id="258" r:id="rId11"/>
    <p:sldId id="268" r:id="rId12"/>
    <p:sldId id="269" r:id="rId13"/>
    <p:sldId id="270" r:id="rId14"/>
    <p:sldId id="260" r:id="rId15"/>
    <p:sldId id="262" r:id="rId16"/>
    <p:sldId id="26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D52C51-9AC7-5A47-A809-C616A125FC49}" v="1" dt="2026-04-15T14:39:04.6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598"/>
  </p:normalViewPr>
  <p:slideViewPr>
    <p:cSldViewPr snapToGrid="0">
      <p:cViewPr varScale="1">
        <p:scale>
          <a:sx n="119" d="100"/>
          <a:sy n="119" d="100"/>
        </p:scale>
        <p:origin x="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, Kenny" userId="01d2c204-92ca-4125-98f9-1fa59b58ff19" providerId="ADAL" clId="{97A74C7C-48CC-5EE7-B518-02677B66F0FC}"/>
    <pc:docChg chg="undo custSel modSld">
      <pc:chgData name="Nguyen, Kenny" userId="01d2c204-92ca-4125-98f9-1fa59b58ff19" providerId="ADAL" clId="{97A74C7C-48CC-5EE7-B518-02677B66F0FC}" dt="2026-04-15T14:39:08.754" v="360" actId="20577"/>
      <pc:docMkLst>
        <pc:docMk/>
      </pc:docMkLst>
      <pc:sldChg chg="modSp mod">
        <pc:chgData name="Nguyen, Kenny" userId="01d2c204-92ca-4125-98f9-1fa59b58ff19" providerId="ADAL" clId="{97A74C7C-48CC-5EE7-B518-02677B66F0FC}" dt="2026-04-15T14:33:13.263" v="354" actId="20577"/>
        <pc:sldMkLst>
          <pc:docMk/>
          <pc:sldMk cId="3569501627" sldId="257"/>
        </pc:sldMkLst>
        <pc:spChg chg="mod">
          <ac:chgData name="Nguyen, Kenny" userId="01d2c204-92ca-4125-98f9-1fa59b58ff19" providerId="ADAL" clId="{97A74C7C-48CC-5EE7-B518-02677B66F0FC}" dt="2026-04-15T14:33:13.263" v="354" actId="20577"/>
          <ac:spMkLst>
            <pc:docMk/>
            <pc:sldMk cId="3569501627" sldId="257"/>
            <ac:spMk id="36" creationId="{00000000-0000-0000-0000-000000000000}"/>
          </ac:spMkLst>
        </pc:spChg>
      </pc:sldChg>
      <pc:sldChg chg="modSp mod">
        <pc:chgData name="Nguyen, Kenny" userId="01d2c204-92ca-4125-98f9-1fa59b58ff19" providerId="ADAL" clId="{97A74C7C-48CC-5EE7-B518-02677B66F0FC}" dt="2026-04-15T14:39:08.754" v="360" actId="20577"/>
        <pc:sldMkLst>
          <pc:docMk/>
          <pc:sldMk cId="3557546213" sldId="260"/>
        </pc:sldMkLst>
        <pc:spChg chg="mod">
          <ac:chgData name="Nguyen, Kenny" userId="01d2c204-92ca-4125-98f9-1fa59b58ff19" providerId="ADAL" clId="{97A74C7C-48CC-5EE7-B518-02677B66F0FC}" dt="2026-04-15T14:39:08.754" v="360" actId="20577"/>
          <ac:spMkLst>
            <pc:docMk/>
            <pc:sldMk cId="3557546213" sldId="260"/>
            <ac:spMk id="47" creationId="{00000000-0000-0000-0000-000000000000}"/>
          </ac:spMkLst>
        </pc:spChg>
      </pc:sldChg>
      <pc:sldChg chg="modSp mod">
        <pc:chgData name="Nguyen, Kenny" userId="01d2c204-92ca-4125-98f9-1fa59b58ff19" providerId="ADAL" clId="{97A74C7C-48CC-5EE7-B518-02677B66F0FC}" dt="2026-04-14T15:21:24.126" v="291" actId="1076"/>
        <pc:sldMkLst>
          <pc:docMk/>
          <pc:sldMk cId="3638002832" sldId="262"/>
        </pc:sldMkLst>
        <pc:spChg chg="mod">
          <ac:chgData name="Nguyen, Kenny" userId="01d2c204-92ca-4125-98f9-1fa59b58ff19" providerId="ADAL" clId="{97A74C7C-48CC-5EE7-B518-02677B66F0FC}" dt="2026-04-14T15:21:16.349" v="289" actId="20577"/>
          <ac:spMkLst>
            <pc:docMk/>
            <pc:sldMk cId="3638002832" sldId="262"/>
            <ac:spMk id="34" creationId="{00000000-0000-0000-0000-000000000000}"/>
          </ac:spMkLst>
        </pc:spChg>
        <pc:picChg chg="mod">
          <ac:chgData name="Nguyen, Kenny" userId="01d2c204-92ca-4125-98f9-1fa59b58ff19" providerId="ADAL" clId="{97A74C7C-48CC-5EE7-B518-02677B66F0FC}" dt="2026-04-14T15:21:24.126" v="291" actId="1076"/>
          <ac:picMkLst>
            <pc:docMk/>
            <pc:sldMk cId="3638002832" sldId="262"/>
            <ac:picMk id="3" creationId="{0122ED17-9C5B-9CDB-18CC-EE5C396C51C0}"/>
          </ac:picMkLst>
        </pc:picChg>
      </pc:sldChg>
      <pc:sldChg chg="modSp mod">
        <pc:chgData name="Nguyen, Kenny" userId="01d2c204-92ca-4125-98f9-1fa59b58ff19" providerId="ADAL" clId="{97A74C7C-48CC-5EE7-B518-02677B66F0FC}" dt="2026-04-14T14:07:37.373" v="3" actId="1035"/>
        <pc:sldMkLst>
          <pc:docMk/>
          <pc:sldMk cId="1765584314" sldId="265"/>
        </pc:sldMkLst>
        <pc:picChg chg="mod">
          <ac:chgData name="Nguyen, Kenny" userId="01d2c204-92ca-4125-98f9-1fa59b58ff19" providerId="ADAL" clId="{97A74C7C-48CC-5EE7-B518-02677B66F0FC}" dt="2026-04-14T14:07:37.373" v="3" actId="1035"/>
          <ac:picMkLst>
            <pc:docMk/>
            <pc:sldMk cId="1765584314" sldId="265"/>
            <ac:picMk id="3" creationId="{CB0E6C2E-8227-052A-0FE5-6D79FC3AE778}"/>
          </ac:picMkLst>
        </pc:picChg>
      </pc:sldChg>
      <pc:sldChg chg="modSp mod">
        <pc:chgData name="Nguyen, Kenny" userId="01d2c204-92ca-4125-98f9-1fa59b58ff19" providerId="ADAL" clId="{97A74C7C-48CC-5EE7-B518-02677B66F0FC}" dt="2026-04-14T14:39:02.879" v="252" actId="1076"/>
        <pc:sldMkLst>
          <pc:docMk/>
          <pc:sldMk cId="387847070" sldId="267"/>
        </pc:sldMkLst>
        <pc:spChg chg="mod">
          <ac:chgData name="Nguyen, Kenny" userId="01d2c204-92ca-4125-98f9-1fa59b58ff19" providerId="ADAL" clId="{97A74C7C-48CC-5EE7-B518-02677B66F0FC}" dt="2026-04-14T14:09:11.365" v="9" actId="20577"/>
          <ac:spMkLst>
            <pc:docMk/>
            <pc:sldMk cId="387847070" sldId="267"/>
            <ac:spMk id="24" creationId="{00000000-0000-0000-0000-000000000000}"/>
          </ac:spMkLst>
        </pc:spChg>
        <pc:graphicFrameChg chg="mod">
          <ac:chgData name="Nguyen, Kenny" userId="01d2c204-92ca-4125-98f9-1fa59b58ff19" providerId="ADAL" clId="{97A74C7C-48CC-5EE7-B518-02677B66F0FC}" dt="2026-04-14T14:39:02.879" v="252" actId="1076"/>
          <ac:graphicFrameMkLst>
            <pc:docMk/>
            <pc:sldMk cId="387847070" sldId="267"/>
            <ac:graphicFrameMk id="4" creationId="{074E92AE-0543-B0DA-7AA0-2A36B4D087AC}"/>
          </ac:graphicFrameMkLst>
        </pc:graphicFrameChg>
      </pc:sldChg>
      <pc:sldChg chg="modSp mod">
        <pc:chgData name="Nguyen, Kenny" userId="01d2c204-92ca-4125-98f9-1fa59b58ff19" providerId="ADAL" clId="{97A74C7C-48CC-5EE7-B518-02677B66F0FC}" dt="2026-04-14T15:19:34.498" v="273" actId="20577"/>
        <pc:sldMkLst>
          <pc:docMk/>
          <pc:sldMk cId="1467024650" sldId="268"/>
        </pc:sldMkLst>
        <pc:spChg chg="mod">
          <ac:chgData name="Nguyen, Kenny" userId="01d2c204-92ca-4125-98f9-1fa59b58ff19" providerId="ADAL" clId="{97A74C7C-48CC-5EE7-B518-02677B66F0FC}" dt="2026-04-14T15:19:34.498" v="273" actId="20577"/>
          <ac:spMkLst>
            <pc:docMk/>
            <pc:sldMk cId="1467024650" sldId="268"/>
            <ac:spMk id="39" creationId="{00000000-0000-0000-0000-000000000000}"/>
          </ac:spMkLst>
        </pc:spChg>
      </pc:sldChg>
      <pc:sldChg chg="modSp mod">
        <pc:chgData name="Nguyen, Kenny" userId="01d2c204-92ca-4125-98f9-1fa59b58ff19" providerId="ADAL" clId="{97A74C7C-48CC-5EE7-B518-02677B66F0FC}" dt="2026-04-14T14:11:52.809" v="11" actId="1076"/>
        <pc:sldMkLst>
          <pc:docMk/>
          <pc:sldMk cId="64980416" sldId="270"/>
        </pc:sldMkLst>
        <pc:spChg chg="mod">
          <ac:chgData name="Nguyen, Kenny" userId="01d2c204-92ca-4125-98f9-1fa59b58ff19" providerId="ADAL" clId="{97A74C7C-48CC-5EE7-B518-02677B66F0FC}" dt="2026-04-14T14:11:52.809" v="11" actId="1076"/>
          <ac:spMkLst>
            <pc:docMk/>
            <pc:sldMk cId="64980416" sldId="270"/>
            <ac:spMk id="26" creationId="{00000000-0000-0000-0000-000000000000}"/>
          </ac:spMkLst>
        </pc:spChg>
      </pc:sldChg>
      <pc:sldChg chg="addSp modSp mod">
        <pc:chgData name="Nguyen, Kenny" userId="01d2c204-92ca-4125-98f9-1fa59b58ff19" providerId="ADAL" clId="{97A74C7C-48CC-5EE7-B518-02677B66F0FC}" dt="2026-04-14T14:17:54.161" v="250" actId="1076"/>
        <pc:sldMkLst>
          <pc:docMk/>
          <pc:sldMk cId="2026565083" sldId="271"/>
        </pc:sldMkLst>
        <pc:spChg chg="add mod">
          <ac:chgData name="Nguyen, Kenny" userId="01d2c204-92ca-4125-98f9-1fa59b58ff19" providerId="ADAL" clId="{97A74C7C-48CC-5EE7-B518-02677B66F0FC}" dt="2026-04-14T14:17:54.161" v="250" actId="1076"/>
          <ac:spMkLst>
            <pc:docMk/>
            <pc:sldMk cId="2026565083" sldId="271"/>
            <ac:spMk id="2" creationId="{3996E95F-A248-F412-B085-DE5A7EA7D6E6}"/>
          </ac:spMkLst>
        </pc:spChg>
        <pc:picChg chg="mod">
          <ac:chgData name="Nguyen, Kenny" userId="01d2c204-92ca-4125-98f9-1fa59b58ff19" providerId="ADAL" clId="{97A74C7C-48CC-5EE7-B518-02677B66F0FC}" dt="2026-04-14T14:17:16.077" v="206" actId="1076"/>
          <ac:picMkLst>
            <pc:docMk/>
            <pc:sldMk cId="2026565083" sldId="271"/>
            <ac:picMk id="3" creationId="{4FCD41FD-80FB-8B5E-6192-26ABEB087F3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2AE4-0D8E-0F48-AFF5-651B0048F541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FF2E6-BEBB-F14F-903E-3EE26C77E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207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FF2E6-BEBB-F14F-903E-3EE26C77E42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034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C35DE-57AB-8343-AD6E-C51980F50CFB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04B56-8BBD-9C47-BFE8-B703171B3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376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C35DE-57AB-8343-AD6E-C51980F50CFB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04B56-8BBD-9C47-BFE8-B703171B3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11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C35DE-57AB-8343-AD6E-C51980F50CFB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04B56-8BBD-9C47-BFE8-B703171B3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59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C35DE-57AB-8343-AD6E-C51980F50CFB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04B56-8BBD-9C47-BFE8-B703171B3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89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C35DE-57AB-8343-AD6E-C51980F50CFB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04B56-8BBD-9C47-BFE8-B703171B3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933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C35DE-57AB-8343-AD6E-C51980F50CFB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04B56-8BBD-9C47-BFE8-B703171B3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150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C35DE-57AB-8343-AD6E-C51980F50CFB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04B56-8BBD-9C47-BFE8-B703171B3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658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C35DE-57AB-8343-AD6E-C51980F50CFB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04B56-8BBD-9C47-BFE8-B703171B3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221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C35DE-57AB-8343-AD6E-C51980F50CFB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04B56-8BBD-9C47-BFE8-B703171B3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004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C35DE-57AB-8343-AD6E-C51980F50CFB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04B56-8BBD-9C47-BFE8-B703171B3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536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C35DE-57AB-8343-AD6E-C51980F50CFB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04B56-8BBD-9C47-BFE8-B703171B3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91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3C35DE-57AB-8343-AD6E-C51980F50CFB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04B56-8BBD-9C47-BFE8-B703171B3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218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0E6C2E-8227-052A-0FE5-6D79FC3AE7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70398" y="335763"/>
            <a:ext cx="8630975" cy="5731686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922D66-1DB8-CB59-C823-C8D1BB1B2390}"/>
              </a:ext>
            </a:extLst>
          </p:cNvPr>
          <p:cNvSpPr txBox="1"/>
          <p:nvPr/>
        </p:nvSpPr>
        <p:spPr>
          <a:xfrm>
            <a:off x="585789" y="5933333"/>
            <a:ext cx="110267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Adverse decisions increased steadily from 81,143 in 2021 to 111,426 in 2024, with the largest growth occurring between 2021 and 2022 (17.48%)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Growth slowed significantly in 2024 (2.11%), suggesting a potential stabilization in the volume of adverse decisions</a:t>
            </a:r>
          </a:p>
        </p:txBody>
      </p:sp>
    </p:spTree>
    <p:extLst>
      <p:ext uri="{BB962C8B-B14F-4D97-AF65-F5344CB8AC3E}">
        <p14:creationId xmlns:p14="http://schemas.microsoft.com/office/powerpoint/2010/main" val="1765584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36D52B-3864-6054-3D80-61C3AB2261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28120" y="643467"/>
            <a:ext cx="7735758" cy="5571065"/>
          </a:xfrm>
          <a:prstGeom prst="rect">
            <a:avLst/>
          </a:prstGeom>
          <a:ln>
            <a:noFill/>
          </a:ln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864C7F0-1E37-96C0-1AAD-BB7AE2E13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y = "Total Adverse Decisions"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714203" y="6112724"/>
            <a:ext cx="1127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CareFirst BluChoice leads all companies with 104,612 adverse decisions from 2021-2024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The top 3 insurers (CareFirst BluChoice, CIGNA, UnitedHealthcare) account for the majority of all adverse decisions statewide.</a:t>
            </a:r>
          </a:p>
        </p:txBody>
      </p:sp>
    </p:spTree>
    <p:extLst>
      <p:ext uri="{BB962C8B-B14F-4D97-AF65-F5344CB8AC3E}">
        <p14:creationId xmlns:p14="http://schemas.microsoft.com/office/powerpoint/2010/main" val="276313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B8FC4-1E43-80C4-D23B-D67828126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276198"/>
            <a:ext cx="10477600" cy="1157242"/>
          </a:xfrm>
        </p:spPr>
        <p:txBody>
          <a:bodyPr>
            <a:normAutofit/>
          </a:bodyPr>
          <a:lstStyle/>
          <a:p>
            <a:r>
              <a:rPr lang="en-US" sz="3700"/>
              <a:t>Year-over-Year Percentage Change of Adverse Decisions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E5D3DB-477B-9616-CEFF-5FEBB2954C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0872618"/>
              </p:ext>
            </p:extLst>
          </p:nvPr>
        </p:nvGraphicFramePr>
        <p:xfrm>
          <a:off x="1250830" y="2484268"/>
          <a:ext cx="9690340" cy="315157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93504">
                  <a:extLst>
                    <a:ext uri="{9D8B030D-6E8A-4147-A177-3AD203B41FA5}">
                      <a16:colId xmlns:a16="http://schemas.microsoft.com/office/drawing/2014/main" val="3819272007"/>
                    </a:ext>
                  </a:extLst>
                </a:gridCol>
                <a:gridCol w="2778188">
                  <a:extLst>
                    <a:ext uri="{9D8B030D-6E8A-4147-A177-3AD203B41FA5}">
                      <a16:colId xmlns:a16="http://schemas.microsoft.com/office/drawing/2014/main" val="2822090494"/>
                    </a:ext>
                  </a:extLst>
                </a:gridCol>
                <a:gridCol w="4918648">
                  <a:extLst>
                    <a:ext uri="{9D8B030D-6E8A-4147-A177-3AD203B41FA5}">
                      <a16:colId xmlns:a16="http://schemas.microsoft.com/office/drawing/2014/main" val="1515740919"/>
                    </a:ext>
                  </a:extLst>
                </a:gridCol>
              </a:tblGrid>
              <a:tr h="630315">
                <a:tc>
                  <a:txBody>
                    <a:bodyPr/>
                    <a:lstStyle/>
                    <a:p>
                      <a:r>
                        <a:rPr lang="en-US" sz="2800"/>
                        <a:t>Year</a:t>
                      </a:r>
                    </a:p>
                  </a:txBody>
                  <a:tcPr marL="143253" marR="143253" marT="71627" marB="71627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Count</a:t>
                      </a:r>
                    </a:p>
                  </a:txBody>
                  <a:tcPr marL="143253" marR="143253" marT="71627" marB="71627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Percent Change</a:t>
                      </a:r>
                    </a:p>
                  </a:txBody>
                  <a:tcPr marL="143253" marR="143253" marT="71627" marB="71627"/>
                </a:tc>
                <a:extLst>
                  <a:ext uri="{0D108BD9-81ED-4DB2-BD59-A6C34878D82A}">
                    <a16:rowId xmlns:a16="http://schemas.microsoft.com/office/drawing/2014/main" val="4065138939"/>
                  </a:ext>
                </a:extLst>
              </a:tr>
              <a:tr h="630315">
                <a:tc>
                  <a:txBody>
                    <a:bodyPr/>
                    <a:lstStyle/>
                    <a:p>
                      <a:r>
                        <a:rPr lang="en-US" sz="2800"/>
                        <a:t>2021</a:t>
                      </a:r>
                    </a:p>
                  </a:txBody>
                  <a:tcPr marL="143253" marR="143253" marT="71627" marB="71627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81,143</a:t>
                      </a:r>
                    </a:p>
                  </a:txBody>
                  <a:tcPr marL="143253" marR="143253" marT="71627" marB="71627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NA</a:t>
                      </a:r>
                    </a:p>
                  </a:txBody>
                  <a:tcPr marL="143253" marR="143253" marT="71627" marB="71627"/>
                </a:tc>
                <a:extLst>
                  <a:ext uri="{0D108BD9-81ED-4DB2-BD59-A6C34878D82A}">
                    <a16:rowId xmlns:a16="http://schemas.microsoft.com/office/drawing/2014/main" val="1014156886"/>
                  </a:ext>
                </a:extLst>
              </a:tr>
              <a:tr h="630315">
                <a:tc>
                  <a:txBody>
                    <a:bodyPr/>
                    <a:lstStyle/>
                    <a:p>
                      <a:r>
                        <a:rPr lang="en-US" sz="2800"/>
                        <a:t>2022</a:t>
                      </a:r>
                    </a:p>
                  </a:txBody>
                  <a:tcPr marL="143253" marR="143253" marT="71627" marB="71627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95,327</a:t>
                      </a:r>
                    </a:p>
                  </a:txBody>
                  <a:tcPr marL="143253" marR="143253" marT="71627" marB="71627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17.48%</a:t>
                      </a:r>
                    </a:p>
                  </a:txBody>
                  <a:tcPr marL="143253" marR="143253" marT="71627" marB="71627"/>
                </a:tc>
                <a:extLst>
                  <a:ext uri="{0D108BD9-81ED-4DB2-BD59-A6C34878D82A}">
                    <a16:rowId xmlns:a16="http://schemas.microsoft.com/office/drawing/2014/main" val="2254140907"/>
                  </a:ext>
                </a:extLst>
              </a:tr>
              <a:tr h="630315">
                <a:tc>
                  <a:txBody>
                    <a:bodyPr/>
                    <a:lstStyle/>
                    <a:p>
                      <a:r>
                        <a:rPr lang="en-US" sz="2800"/>
                        <a:t>2023</a:t>
                      </a:r>
                    </a:p>
                  </a:txBody>
                  <a:tcPr marL="143253" marR="143253" marT="71627" marB="71627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109,123</a:t>
                      </a:r>
                    </a:p>
                  </a:txBody>
                  <a:tcPr marL="143253" marR="143253" marT="71627" marB="71627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14.47%</a:t>
                      </a:r>
                    </a:p>
                  </a:txBody>
                  <a:tcPr marL="143253" marR="143253" marT="71627" marB="71627"/>
                </a:tc>
                <a:extLst>
                  <a:ext uri="{0D108BD9-81ED-4DB2-BD59-A6C34878D82A}">
                    <a16:rowId xmlns:a16="http://schemas.microsoft.com/office/drawing/2014/main" val="3388155020"/>
                  </a:ext>
                </a:extLst>
              </a:tr>
              <a:tr h="630315">
                <a:tc>
                  <a:txBody>
                    <a:bodyPr/>
                    <a:lstStyle/>
                    <a:p>
                      <a:r>
                        <a:rPr lang="en-US" sz="2800"/>
                        <a:t>2024</a:t>
                      </a:r>
                    </a:p>
                  </a:txBody>
                  <a:tcPr marL="143253" marR="143253" marT="71627" marB="71627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111,426</a:t>
                      </a:r>
                    </a:p>
                  </a:txBody>
                  <a:tcPr marL="143253" marR="143253" marT="71627" marB="71627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2.11%</a:t>
                      </a:r>
                    </a:p>
                  </a:txBody>
                  <a:tcPr marL="143253" marR="143253" marT="71627" marB="71627"/>
                </a:tc>
                <a:extLst>
                  <a:ext uri="{0D108BD9-81ED-4DB2-BD59-A6C34878D82A}">
                    <a16:rowId xmlns:a16="http://schemas.microsoft.com/office/drawing/2014/main" val="939147935"/>
                  </a:ext>
                </a:extLst>
              </a:tr>
            </a:tbl>
          </a:graphicData>
        </a:graphic>
      </p:graphicFrame>
      <p:sp>
        <p:nvSpPr>
          <p:cNvPr id="24" name="TextBox 24"/>
          <p:cNvSpPr txBox="1"/>
          <p:nvPr/>
        </p:nvSpPr>
        <p:spPr>
          <a:xfrm>
            <a:off x="457198" y="5985311"/>
            <a:ext cx="1127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The highest single-year increase was 2021-2022 at 17.48%, nearly 8x larger than the 2024 growth rate of 2.11%.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Despite slowing growth, total adverse decisions still rose by over 30,000 cases between 2021 and 2024.</a:t>
            </a:r>
          </a:p>
        </p:txBody>
      </p:sp>
    </p:spTree>
    <p:extLst>
      <p:ext uri="{BB962C8B-B14F-4D97-AF65-F5344CB8AC3E}">
        <p14:creationId xmlns:p14="http://schemas.microsoft.com/office/powerpoint/2010/main" val="3528286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2590D58-6B41-3E98-FE84-DCDEC42A2E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30782" y="796422"/>
            <a:ext cx="8243825" cy="5571067"/>
          </a:xfrm>
          <a:prstGeom prst="rect">
            <a:avLst/>
          </a:prstGeom>
          <a:ln>
            <a:noFill/>
          </a:ln>
        </p:spPr>
      </p:pic>
      <p:sp>
        <p:nvSpPr>
          <p:cNvPr id="37" name="TextBox 37"/>
          <p:cNvSpPr txBox="1"/>
          <p:nvPr/>
        </p:nvSpPr>
        <p:spPr>
          <a:xfrm>
            <a:off x="457200" y="6199916"/>
            <a:ext cx="1127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Emergency Room Services saw a 1,020% spike in 2022  going from 10 to 112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Mental Health Services surged 149.7% in 2024</a:t>
            </a:r>
          </a:p>
        </p:txBody>
      </p:sp>
    </p:spTree>
    <p:extLst>
      <p:ext uri="{BB962C8B-B14F-4D97-AF65-F5344CB8AC3E}">
        <p14:creationId xmlns:p14="http://schemas.microsoft.com/office/powerpoint/2010/main" val="2504169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461769-070E-DCD4-D5B6-03DEAE0FA2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82246" y="643467"/>
            <a:ext cx="8627509" cy="5571065"/>
          </a:xfrm>
          <a:prstGeom prst="rect">
            <a:avLst/>
          </a:prstGeom>
          <a:ln>
            <a:noFill/>
          </a:ln>
        </p:spPr>
      </p:pic>
      <p:sp>
        <p:nvSpPr>
          <p:cNvPr id="36" name="TextBox 36"/>
          <p:cNvSpPr txBox="1"/>
          <p:nvPr/>
        </p:nvSpPr>
        <p:spPr>
          <a:xfrm>
            <a:off x="457200" y="6094034"/>
            <a:ext cx="1127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Pharmacy Services had the highest absolute volume and a consistent upward trend, making it the largest driver of adverse decisions by service, possibly due to burnt out workers and high quotas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Laboratory/Radiology &amp; Emergency Services is the only category showing a decline in 2024, contrasting with the broader upward trend across services</a:t>
            </a:r>
          </a:p>
        </p:txBody>
      </p:sp>
    </p:spTree>
    <p:extLst>
      <p:ext uri="{BB962C8B-B14F-4D97-AF65-F5344CB8AC3E}">
        <p14:creationId xmlns:p14="http://schemas.microsoft.com/office/powerpoint/2010/main" val="3569501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5FEF32-1FFF-316A-E03B-F53720E585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131315" y="643467"/>
            <a:ext cx="7929368" cy="5571065"/>
          </a:xfrm>
          <a:prstGeom prst="rect">
            <a:avLst/>
          </a:prstGeom>
          <a:ln>
            <a:noFill/>
          </a:ln>
        </p:spPr>
      </p:pic>
      <p:sp>
        <p:nvSpPr>
          <p:cNvPr id="44" name="TextBox 44"/>
          <p:cNvSpPr txBox="1"/>
          <p:nvPr/>
        </p:nvSpPr>
        <p:spPr>
          <a:xfrm>
            <a:off x="457199" y="6055571"/>
            <a:ext cx="11277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Total grievances grew 43% from 8,073 in 2021 to 11,526 in 2024, indicating consumers are increasingly challenging insurance decisions.</a:t>
            </a:r>
          </a:p>
        </p:txBody>
      </p:sp>
    </p:spTree>
    <p:extLst>
      <p:ext uri="{BB962C8B-B14F-4D97-AF65-F5344CB8AC3E}">
        <p14:creationId xmlns:p14="http://schemas.microsoft.com/office/powerpoint/2010/main" val="1615295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CD41FD-80FB-8B5E-6192-26ABEB087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829" y="357717"/>
            <a:ext cx="7930341" cy="5571065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96E95F-A248-F412-B085-DE5A7EA7D6E6}"/>
              </a:ext>
            </a:extLst>
          </p:cNvPr>
          <p:cNvSpPr txBox="1"/>
          <p:nvPr/>
        </p:nvSpPr>
        <p:spPr>
          <a:xfrm>
            <a:off x="1386839" y="5977063"/>
            <a:ext cx="9418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CareFirst </a:t>
            </a:r>
            <a:r>
              <a:rPr lang="en-US" sz="1400" err="1"/>
              <a:t>BlueChoice</a:t>
            </a:r>
            <a:r>
              <a:rPr lang="en-US" sz="1400"/>
              <a:t> ranks 1</a:t>
            </a:r>
            <a:r>
              <a:rPr lang="en-US" sz="1400" baseline="30000"/>
              <a:t>st</a:t>
            </a:r>
            <a:r>
              <a:rPr lang="en-US" sz="1400"/>
              <a:t> in both adverse and grievances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Guardian Life ranks 5</a:t>
            </a:r>
            <a:r>
              <a:rPr lang="en-US" sz="1400" baseline="30000"/>
              <a:t>th</a:t>
            </a:r>
            <a:r>
              <a:rPr lang="en-US" sz="1400"/>
              <a:t> for grievances yet 10</a:t>
            </a:r>
            <a:r>
              <a:rPr lang="en-US" sz="1400" baseline="30000"/>
              <a:t>th</a:t>
            </a:r>
            <a:r>
              <a:rPr lang="en-US" sz="1400"/>
              <a:t> for adverse  </a:t>
            </a:r>
          </a:p>
        </p:txBody>
      </p:sp>
    </p:spTree>
    <p:extLst>
      <p:ext uri="{BB962C8B-B14F-4D97-AF65-F5344CB8AC3E}">
        <p14:creationId xmlns:p14="http://schemas.microsoft.com/office/powerpoint/2010/main" val="2026565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78AD7-7AD2-5DFD-8CEB-AB6F3A00E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AB265-BD70-DF53-942A-8FB8ED64A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276198"/>
            <a:ext cx="10477600" cy="1157242"/>
          </a:xfrm>
        </p:spPr>
        <p:txBody>
          <a:bodyPr>
            <a:normAutofit/>
          </a:bodyPr>
          <a:lstStyle/>
          <a:p>
            <a:r>
              <a:rPr lang="en-US" sz="3700"/>
              <a:t>Year-over-Year Percentage Change of Grievances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4E92AE-0543-B0DA-7AA0-2A36B4D087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83928"/>
              </p:ext>
            </p:extLst>
          </p:nvPr>
        </p:nvGraphicFramePr>
        <p:xfrm>
          <a:off x="1250830" y="2484268"/>
          <a:ext cx="9690340" cy="315157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93504">
                  <a:extLst>
                    <a:ext uri="{9D8B030D-6E8A-4147-A177-3AD203B41FA5}">
                      <a16:colId xmlns:a16="http://schemas.microsoft.com/office/drawing/2014/main" val="3819272007"/>
                    </a:ext>
                  </a:extLst>
                </a:gridCol>
                <a:gridCol w="2778188">
                  <a:extLst>
                    <a:ext uri="{9D8B030D-6E8A-4147-A177-3AD203B41FA5}">
                      <a16:colId xmlns:a16="http://schemas.microsoft.com/office/drawing/2014/main" val="2822090494"/>
                    </a:ext>
                  </a:extLst>
                </a:gridCol>
                <a:gridCol w="4918648">
                  <a:extLst>
                    <a:ext uri="{9D8B030D-6E8A-4147-A177-3AD203B41FA5}">
                      <a16:colId xmlns:a16="http://schemas.microsoft.com/office/drawing/2014/main" val="1515740919"/>
                    </a:ext>
                  </a:extLst>
                </a:gridCol>
              </a:tblGrid>
              <a:tr h="630315">
                <a:tc>
                  <a:txBody>
                    <a:bodyPr/>
                    <a:lstStyle/>
                    <a:p>
                      <a:r>
                        <a:rPr lang="en-US" sz="2800"/>
                        <a:t>Year</a:t>
                      </a:r>
                    </a:p>
                  </a:txBody>
                  <a:tcPr marL="143253" marR="143253" marT="71627" marB="71627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Count</a:t>
                      </a:r>
                    </a:p>
                  </a:txBody>
                  <a:tcPr marL="143253" marR="143253" marT="71627" marB="71627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Percent Change</a:t>
                      </a:r>
                    </a:p>
                  </a:txBody>
                  <a:tcPr marL="143253" marR="143253" marT="71627" marB="71627"/>
                </a:tc>
                <a:extLst>
                  <a:ext uri="{0D108BD9-81ED-4DB2-BD59-A6C34878D82A}">
                    <a16:rowId xmlns:a16="http://schemas.microsoft.com/office/drawing/2014/main" val="4065138939"/>
                  </a:ext>
                </a:extLst>
              </a:tr>
              <a:tr h="630315">
                <a:tc>
                  <a:txBody>
                    <a:bodyPr/>
                    <a:lstStyle/>
                    <a:p>
                      <a:r>
                        <a:rPr lang="en-US" sz="2800"/>
                        <a:t>2021</a:t>
                      </a:r>
                    </a:p>
                  </a:txBody>
                  <a:tcPr marL="143253" marR="143253" marT="71627" marB="71627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8,073</a:t>
                      </a:r>
                    </a:p>
                  </a:txBody>
                  <a:tcPr marL="143253" marR="143253" marT="71627" marB="71627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NA</a:t>
                      </a:r>
                    </a:p>
                  </a:txBody>
                  <a:tcPr marL="143253" marR="143253" marT="71627" marB="71627"/>
                </a:tc>
                <a:extLst>
                  <a:ext uri="{0D108BD9-81ED-4DB2-BD59-A6C34878D82A}">
                    <a16:rowId xmlns:a16="http://schemas.microsoft.com/office/drawing/2014/main" val="1014156886"/>
                  </a:ext>
                </a:extLst>
              </a:tr>
              <a:tr h="630315">
                <a:tc>
                  <a:txBody>
                    <a:bodyPr/>
                    <a:lstStyle/>
                    <a:p>
                      <a:r>
                        <a:rPr lang="en-US" sz="2800"/>
                        <a:t>2022</a:t>
                      </a:r>
                    </a:p>
                  </a:txBody>
                  <a:tcPr marL="143253" marR="143253" marT="71627" marB="71627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10,305</a:t>
                      </a:r>
                    </a:p>
                  </a:txBody>
                  <a:tcPr marL="143253" marR="143253" marT="71627" marB="71627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27.64%</a:t>
                      </a:r>
                    </a:p>
                  </a:txBody>
                  <a:tcPr marL="143253" marR="143253" marT="71627" marB="71627"/>
                </a:tc>
                <a:extLst>
                  <a:ext uri="{0D108BD9-81ED-4DB2-BD59-A6C34878D82A}">
                    <a16:rowId xmlns:a16="http://schemas.microsoft.com/office/drawing/2014/main" val="2254140907"/>
                  </a:ext>
                </a:extLst>
              </a:tr>
              <a:tr h="630315">
                <a:tc>
                  <a:txBody>
                    <a:bodyPr/>
                    <a:lstStyle/>
                    <a:p>
                      <a:r>
                        <a:rPr lang="en-US" sz="2800"/>
                        <a:t>2023</a:t>
                      </a:r>
                    </a:p>
                  </a:txBody>
                  <a:tcPr marL="143253" marR="143253" marT="71627" marB="71627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10,574</a:t>
                      </a:r>
                    </a:p>
                  </a:txBody>
                  <a:tcPr marL="143253" marR="143253" marT="71627" marB="71627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2.61%</a:t>
                      </a:r>
                    </a:p>
                  </a:txBody>
                  <a:tcPr marL="143253" marR="143253" marT="71627" marB="71627"/>
                </a:tc>
                <a:extLst>
                  <a:ext uri="{0D108BD9-81ED-4DB2-BD59-A6C34878D82A}">
                    <a16:rowId xmlns:a16="http://schemas.microsoft.com/office/drawing/2014/main" val="3388155020"/>
                  </a:ext>
                </a:extLst>
              </a:tr>
              <a:tr h="630315">
                <a:tc>
                  <a:txBody>
                    <a:bodyPr/>
                    <a:lstStyle/>
                    <a:p>
                      <a:r>
                        <a:rPr lang="en-US" sz="2800"/>
                        <a:t>2024</a:t>
                      </a:r>
                    </a:p>
                  </a:txBody>
                  <a:tcPr marL="143253" marR="143253" marT="71627" marB="71627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11,526</a:t>
                      </a:r>
                    </a:p>
                  </a:txBody>
                  <a:tcPr marL="143253" marR="143253" marT="71627" marB="71627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9.00%</a:t>
                      </a:r>
                    </a:p>
                  </a:txBody>
                  <a:tcPr marL="143253" marR="143253" marT="71627" marB="71627"/>
                </a:tc>
                <a:extLst>
                  <a:ext uri="{0D108BD9-81ED-4DB2-BD59-A6C34878D82A}">
                    <a16:rowId xmlns:a16="http://schemas.microsoft.com/office/drawing/2014/main" val="939147935"/>
                  </a:ext>
                </a:extLst>
              </a:tr>
            </a:tbl>
          </a:graphicData>
        </a:graphic>
      </p:graphicFrame>
      <p:sp>
        <p:nvSpPr>
          <p:cNvPr id="24" name="TextBox 24"/>
          <p:cNvSpPr txBox="1"/>
          <p:nvPr/>
        </p:nvSpPr>
        <p:spPr>
          <a:xfrm>
            <a:off x="1250830" y="5900478"/>
            <a:ext cx="1127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Grievances grew faster than adverse decisions in 2022 (27.64% vs. 17.48%)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In 2024, grievances rose 9% even as adverse decision growth rose at 2.11%</a:t>
            </a:r>
          </a:p>
        </p:txBody>
      </p:sp>
    </p:spTree>
    <p:extLst>
      <p:ext uri="{BB962C8B-B14F-4D97-AF65-F5344CB8AC3E}">
        <p14:creationId xmlns:p14="http://schemas.microsoft.com/office/powerpoint/2010/main" val="387847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F645FB-DD68-F14D-0C85-0BB8B28F45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89856" y="643466"/>
            <a:ext cx="7612287" cy="5571067"/>
          </a:xfrm>
          <a:prstGeom prst="rect">
            <a:avLst/>
          </a:prstGeom>
          <a:ln>
            <a:noFill/>
          </a:ln>
        </p:spPr>
      </p:pic>
      <p:sp>
        <p:nvSpPr>
          <p:cNvPr id="26" name="TextBox 26"/>
          <p:cNvSpPr txBox="1"/>
          <p:nvPr/>
        </p:nvSpPr>
        <p:spPr>
          <a:xfrm>
            <a:off x="457199" y="6235347"/>
            <a:ext cx="11277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Mental Health Services grievances surged 217.4% in 2024 — the largest jump of any service category and a key area of concern.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Skilled Nursing Facility grievances jumped 483.3% in 2023, then grew another 17.1% in 2024, indicating a persistent and growing problem.</a:t>
            </a:r>
          </a:p>
        </p:txBody>
      </p:sp>
    </p:spTree>
    <p:extLst>
      <p:ext uri="{BB962C8B-B14F-4D97-AF65-F5344CB8AC3E}">
        <p14:creationId xmlns:p14="http://schemas.microsoft.com/office/powerpoint/2010/main" val="1552364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018856-1127-B2E7-A66F-D449850667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66014" y="288485"/>
            <a:ext cx="7252857" cy="5282551"/>
          </a:xfrm>
          <a:prstGeom prst="rect">
            <a:avLst/>
          </a:prstGeom>
          <a:ln>
            <a:noFill/>
          </a:ln>
        </p:spPr>
      </p:pic>
      <p:sp>
        <p:nvSpPr>
          <p:cNvPr id="30" name="TextBox 30"/>
          <p:cNvSpPr txBox="1"/>
          <p:nvPr/>
        </p:nvSpPr>
        <p:spPr>
          <a:xfrm>
            <a:off x="537663" y="5979734"/>
            <a:ext cx="1127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Pharmacy Services grievances are consistently high and rising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Mental Health Services shows a dramatic acceleration in 2024  after years of relative stability — the most significant shift in this dataset.</a:t>
            </a:r>
          </a:p>
        </p:txBody>
      </p:sp>
    </p:spTree>
    <p:extLst>
      <p:ext uri="{BB962C8B-B14F-4D97-AF65-F5344CB8AC3E}">
        <p14:creationId xmlns:p14="http://schemas.microsoft.com/office/powerpoint/2010/main" val="1845075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BDDA0E-38F0-1125-0145-56235C99F3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41215" y="340550"/>
            <a:ext cx="7302835" cy="5201450"/>
          </a:xfrm>
          <a:prstGeom prst="rect">
            <a:avLst/>
          </a:prstGeom>
          <a:ln>
            <a:noFill/>
          </a:ln>
        </p:spPr>
      </p:pic>
      <p:sp>
        <p:nvSpPr>
          <p:cNvPr id="39" name="TextBox 39"/>
          <p:cNvSpPr txBox="1"/>
          <p:nvPr/>
        </p:nvSpPr>
        <p:spPr>
          <a:xfrm>
            <a:off x="457200" y="5756350"/>
            <a:ext cx="11277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Overturned outcomes are the most common and continue to grow, meaning insurers are increasingly siding with consumers</a:t>
            </a:r>
          </a:p>
        </p:txBody>
      </p:sp>
    </p:spTree>
    <p:extLst>
      <p:ext uri="{BB962C8B-B14F-4D97-AF65-F5344CB8AC3E}">
        <p14:creationId xmlns:p14="http://schemas.microsoft.com/office/powerpoint/2010/main" val="1467024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99FAD3-049F-2415-D569-B583AF32A5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308399" y="345851"/>
            <a:ext cx="7559946" cy="5571065"/>
          </a:xfrm>
          <a:prstGeom prst="rect">
            <a:avLst/>
          </a:prstGeom>
          <a:ln>
            <a:noFill/>
          </a:ln>
        </p:spPr>
      </p:pic>
      <p:sp>
        <p:nvSpPr>
          <p:cNvPr id="26" name="TextBox 26"/>
          <p:cNvSpPr txBox="1"/>
          <p:nvPr/>
        </p:nvSpPr>
        <p:spPr>
          <a:xfrm>
            <a:off x="457200" y="5912149"/>
            <a:ext cx="11277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Upheld outcomes for hospital length-of-stay grievances surged in 2024 after a dip in 2022.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Overturned cases declined in 2024 after peaking in 2023 — consumers are having less success challenging hospital stay denials in recent years.</a:t>
            </a:r>
          </a:p>
        </p:txBody>
      </p:sp>
    </p:spTree>
    <p:extLst>
      <p:ext uri="{BB962C8B-B14F-4D97-AF65-F5344CB8AC3E}">
        <p14:creationId xmlns:p14="http://schemas.microsoft.com/office/powerpoint/2010/main" val="1246186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C202AF-73A5-BD10-498C-1199E13741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316026" y="643467"/>
            <a:ext cx="7559946" cy="5571065"/>
          </a:xfrm>
          <a:prstGeom prst="rect">
            <a:avLst/>
          </a:prstGeom>
          <a:ln>
            <a:noFill/>
          </a:ln>
        </p:spPr>
      </p:pic>
      <p:sp>
        <p:nvSpPr>
          <p:cNvPr id="26" name="TextBox 26"/>
          <p:cNvSpPr txBox="1"/>
          <p:nvPr/>
        </p:nvSpPr>
        <p:spPr>
          <a:xfrm>
            <a:off x="457199" y="6123039"/>
            <a:ext cx="11277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Carrier Upheld by MIA decisions rose sharply in 2024, indicating the MIA is increasingly ruling in favor of insurers across all case types.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Carrier Reversed by MIA cases are also growing, showing the agency remains active in holding insurers accountable in certain circumstances.</a:t>
            </a:r>
          </a:p>
        </p:txBody>
      </p:sp>
    </p:spTree>
    <p:extLst>
      <p:ext uri="{BB962C8B-B14F-4D97-AF65-F5344CB8AC3E}">
        <p14:creationId xmlns:p14="http://schemas.microsoft.com/office/powerpoint/2010/main" val="64980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E567004-2689-041F-BCB6-C08E9A258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540" y="643467"/>
            <a:ext cx="8670919" cy="5571065"/>
          </a:xfrm>
          <a:prstGeom prst="rect">
            <a:avLst/>
          </a:prstGeom>
          <a:ln>
            <a:noFill/>
          </a:ln>
        </p:spPr>
      </p:pic>
      <p:sp>
        <p:nvSpPr>
          <p:cNvPr id="47" name="TextBox 47"/>
          <p:cNvSpPr txBox="1"/>
          <p:nvPr/>
        </p:nvSpPr>
        <p:spPr>
          <a:xfrm>
            <a:off x="457199" y="6112724"/>
            <a:ext cx="11277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Emergency resolution hours have dropped significantly since 2021, with Q1 2024 averaging less than 400 hours compared to 660.1 in Q1 2021.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Q1 consistently records the highest resolution hours each year , likely reflecting post-holiday backlogs and early-year staffing constraints.</a:t>
            </a:r>
          </a:p>
        </p:txBody>
      </p:sp>
    </p:spTree>
    <p:extLst>
      <p:ext uri="{BB962C8B-B14F-4D97-AF65-F5344CB8AC3E}">
        <p14:creationId xmlns:p14="http://schemas.microsoft.com/office/powerpoint/2010/main" val="3557546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22ED17-9C5B-9CDB-18CC-EE5C396C51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78378" y="484506"/>
            <a:ext cx="7635244" cy="5571065"/>
          </a:xfrm>
          <a:prstGeom prst="rect">
            <a:avLst/>
          </a:prstGeom>
          <a:ln>
            <a:noFill/>
          </a:ln>
        </p:spPr>
      </p:pic>
      <p:sp>
        <p:nvSpPr>
          <p:cNvPr id="34" name="TextBox 34"/>
          <p:cNvSpPr txBox="1"/>
          <p:nvPr/>
        </p:nvSpPr>
        <p:spPr>
          <a:xfrm>
            <a:off x="457200" y="6055571"/>
            <a:ext cx="11277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Non-emergency resolution days peaked in Q4 2022 at 861.8 and have been declining since, reflecting improved processing efficiency across all quarters.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All 2024 quarters are well below 2022 peaks, suggesting improvements in handling non-urgent cases.</a:t>
            </a:r>
          </a:p>
        </p:txBody>
      </p:sp>
    </p:spTree>
    <p:extLst>
      <p:ext uri="{BB962C8B-B14F-4D97-AF65-F5344CB8AC3E}">
        <p14:creationId xmlns:p14="http://schemas.microsoft.com/office/powerpoint/2010/main" val="3638002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59B8A4-BDB3-F40E-ECCB-BC78072A64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89670" y="271290"/>
            <a:ext cx="8012660" cy="5880637"/>
          </a:xfrm>
          <a:prstGeom prst="rect">
            <a:avLst/>
          </a:prstGeom>
          <a:ln>
            <a:noFill/>
          </a:ln>
        </p:spPr>
      </p:pic>
      <p:sp>
        <p:nvSpPr>
          <p:cNvPr id="57" name="TextBox 57"/>
          <p:cNvSpPr txBox="1"/>
          <p:nvPr/>
        </p:nvSpPr>
        <p:spPr>
          <a:xfrm>
            <a:off x="457200" y="5937591"/>
            <a:ext cx="110585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Pharmacy/Formulary Issues and Lab/Imaging and Test generate the most MIA appeal activity each year, making them the highest-friction service categories.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High volumes of Carrier Reversed Itself During Investigation suggest insurers frequently back down when they are being investigated</a:t>
            </a:r>
          </a:p>
        </p:txBody>
      </p:sp>
    </p:spTree>
    <p:extLst>
      <p:ext uri="{BB962C8B-B14F-4D97-AF65-F5344CB8AC3E}">
        <p14:creationId xmlns:p14="http://schemas.microsoft.com/office/powerpoint/2010/main" val="3499471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632</Words>
  <Application>Microsoft Macintosh PowerPoint</Application>
  <PresentationFormat>Widescreen</PresentationFormat>
  <Paragraphs>64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Year-over-Year Percentage Change of Adverse Decisions</vt:lpstr>
      <vt:lpstr>PowerPoint Presentation</vt:lpstr>
      <vt:lpstr>PowerPoint Presentation</vt:lpstr>
      <vt:lpstr>PowerPoint Presentation</vt:lpstr>
      <vt:lpstr>PowerPoint Presentation</vt:lpstr>
      <vt:lpstr>Year-over-Year Percentage Change of Grievances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Nguyen, Kenny</dc:creator>
  <cp:lastModifiedBy>Nguyen, Kenny</cp:lastModifiedBy>
  <cp:revision>1</cp:revision>
  <dcterms:created xsi:type="dcterms:W3CDTF">2026-04-10T02:11:49Z</dcterms:created>
  <dcterms:modified xsi:type="dcterms:W3CDTF">2026-04-15T14:39:14Z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b55589f-69af-4b8f-bb7e-f33b2c49fdb7_ContentBits">
    <vt:lpwstr>0</vt:lpwstr>
  </property>
  <property fmtid="{D5CDD505-2E9C-101B-9397-08002B2CF9AE}" pid="3" name="MSIP_Label_db55589f-69af-4b8f-bb7e-f33b2c49fdb7_Enabled">
    <vt:lpwstr>true</vt:lpwstr>
  </property>
  <property fmtid="{D5CDD505-2E9C-101B-9397-08002B2CF9AE}" pid="4" name="MSIP_Label_db55589f-69af-4b8f-bb7e-f33b2c49fdb7_SetDate">
    <vt:lpwstr>2026-04-11T00:49:23Z</vt:lpwstr>
  </property>
  <property fmtid="{D5CDD505-2E9C-101B-9397-08002B2CF9AE}" pid="5" name="MSIP_Label_db55589f-69af-4b8f-bb7e-f33b2c49fdb7_SiteId">
    <vt:lpwstr>4d401e0b-6552-4e08-bd38-a8d15ca0ddd9</vt:lpwstr>
  </property>
  <property fmtid="{D5CDD505-2E9C-101B-9397-08002B2CF9AE}" pid="6" name="MSIP_Label_db55589f-69af-4b8f-bb7e-f33b2c49fdb7_Method">
    <vt:lpwstr>Standard</vt:lpwstr>
  </property>
  <property fmtid="{D5CDD505-2E9C-101B-9397-08002B2CF9AE}" pid="7" name="MSIP_Label_db55589f-69af-4b8f-bb7e-f33b2c49fdb7_ActionId">
    <vt:lpwstr>cdac7265-907c-4348-8f4c-c5db5e63dde0</vt:lpwstr>
  </property>
  <property fmtid="{D5CDD505-2E9C-101B-9397-08002B2CF9AE}" pid="8" name="MSIP_Label_db55589f-69af-4b8f-bb7e-f33b2c49fdb7_Provider">
    <vt:lpwstr>Varonis.Labeling</vt:lpwstr>
  </property>
  <property fmtid="{D5CDD505-2E9C-101B-9397-08002B2CF9AE}" pid="9" name="MSIP_Label_db55589f-69af-4b8f-bb7e-f33b2c49fdb7_Name">
    <vt:lpwstr>Sensitive (Internal)</vt:lpwstr>
  </property>
</Properties>
</file>